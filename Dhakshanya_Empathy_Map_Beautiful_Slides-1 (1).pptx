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01</a:t>
            </a:r>
          </a:p>
        </p:txBody>
      </p:sp>
      <p:sp>
        <p:nvSpPr>
          <p:cNvPr id="6" name="TextBox 5"/>
          <p:cNvSpPr txBox="1"/>
          <p:nvPr/>
        </p:nvSpPr>
        <p:spPr>
          <a:xfrm>
            <a:off x="914400" y="960120"/>
            <a:ext cx="7132320" cy="457200"/>
          </a:xfrm>
          <a:prstGeom prst="rect">
            <a:avLst/>
          </a:prstGeom>
          <a:noFill/>
        </p:spPr>
        <p:txBody>
          <a:bodyPr wrap="square">
            <a:spAutoFit/>
          </a:bodyPr>
          <a:lstStyle/>
          <a:p>
            <a:pPr algn="l">
              <a:defRPr sz="1800" b="1">
                <a:solidFill>
                  <a:srgbClr val="6F4EF6"/>
                </a:solidFill>
                <a:latin typeface="Aptos"/>
              </a:defRPr>
            </a:pPr>
            <a:r>
              <a:t>UI/UX DESIGN THINKING</a:t>
            </a:r>
          </a:p>
        </p:txBody>
      </p:sp>
      <p:sp>
        <p:nvSpPr>
          <p:cNvPr id="7" name="TextBox 6"/>
          <p:cNvSpPr txBox="1"/>
          <p:nvPr/>
        </p:nvSpPr>
        <p:spPr>
          <a:xfrm>
            <a:off x="914400" y="1600200"/>
            <a:ext cx="9601200" cy="1828800"/>
          </a:xfrm>
          <a:prstGeom prst="rect">
            <a:avLst/>
          </a:prstGeom>
          <a:noFill/>
        </p:spPr>
        <p:txBody>
          <a:bodyPr wrap="square">
            <a:spAutoFit/>
          </a:bodyPr>
          <a:lstStyle/>
          <a:p>
            <a:pPr algn="l">
              <a:defRPr sz="3200" b="1">
                <a:solidFill>
                  <a:srgbClr val="161C37"/>
                </a:solidFill>
                <a:latin typeface="Aptos"/>
              </a:defRPr>
            </a:pPr>
            <a:r>
              <a:t>PRACTICUM REPORT</a:t>
            </a:r>
            <a:br/>
            <a:r>
              <a:t>Empathy Map for a Food Delivery App User</a:t>
            </a:r>
          </a:p>
        </p:txBody>
      </p:sp>
      <p:sp>
        <p:nvSpPr>
          <p:cNvPr id="8" name="TextBox 7"/>
          <p:cNvSpPr txBox="1"/>
          <p:nvPr/>
        </p:nvSpPr>
        <p:spPr>
          <a:xfrm>
            <a:off x="960120" y="4160520"/>
            <a:ext cx="7772400" cy="548640"/>
          </a:xfrm>
          <a:prstGeom prst="rect">
            <a:avLst/>
          </a:prstGeom>
          <a:noFill/>
        </p:spPr>
        <p:txBody>
          <a:bodyPr wrap="square">
            <a:spAutoFit/>
          </a:bodyPr>
          <a:lstStyle/>
          <a:p>
            <a:pPr algn="l">
              <a:defRPr sz="1700" b="0">
                <a:solidFill>
                  <a:srgbClr val="5C5E73"/>
                </a:solidFill>
                <a:latin typeface="Aptos"/>
              </a:defRPr>
            </a:pPr>
            <a:r>
              <a:t>Dhakshanya  •  BCA – 1st Year  •  17 August 2026</a:t>
            </a:r>
          </a:p>
        </p:txBody>
      </p:sp>
      <p:sp>
        <p:nvSpPr>
          <p:cNvPr id="9" name="Rounded Rectangle 8"/>
          <p:cNvSpPr/>
          <p:nvPr/>
        </p:nvSpPr>
        <p:spPr>
          <a:xfrm>
            <a:off x="8686800" y="2743200"/>
            <a:ext cx="219456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15400" y="3246120"/>
            <a:ext cx="1737360" cy="1005840"/>
          </a:xfrm>
          <a:prstGeom prst="rect">
            <a:avLst/>
          </a:prstGeom>
          <a:noFill/>
        </p:spPr>
        <p:txBody>
          <a:bodyPr wrap="square">
            <a:spAutoFit/>
          </a:bodyPr>
          <a:lstStyle/>
          <a:p>
            <a:pPr algn="ctr">
              <a:defRPr sz="2100" b="1">
                <a:solidFill>
                  <a:srgbClr val="6F4EF6"/>
                </a:solidFill>
                <a:latin typeface="Aptos"/>
              </a:defRPr>
            </a:pPr>
            <a:r>
              <a:t>FOOD</a:t>
            </a:r>
            <a:br/>
            <a:r>
              <a:t>DELIVERY</a:t>
            </a:r>
          </a:p>
        </p:txBody>
      </p:sp>
      <p:sp>
        <p:nvSpPr>
          <p:cNvPr id="11" name="TextBox 10"/>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02</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01  INTRODUCTION</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An empathy map is a Design Thinking tool used to understand users better.</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It identifies what a user SAYS, THINKS, DOES and FEELS while using a product or service.</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03</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02  PROBLEM STATEMENT</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Food delivery apps are convenient, but users may face:</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Delayed delivery  •  High delivery charges  •  Unclear order status  •  Unavailable restaurants</a:t>
            </a:r>
            <a:br/>
            <a:r>
              <a:t>Incorrect orders  •  Difficulty getting quick support</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04</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03  USER PROFILE</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COLLEGE STUDENT</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Frequently orders through a mobile app.</a:t>
            </a:r>
            <a:br/>
            <a:br/>
            <a:r>
              <a:t>Wants: affordable food • quick delivery • easy navigation • accurate tracking • simple payment</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05</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04  EMPATHY MAP</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SAYS</a:t>
            </a:r>
            <a:br/>
            <a:r>
              <a:t>“I want my food to arrive on time.”</a:t>
            </a:r>
            <a:br/>
            <a:r>
              <a:t>“I need affordable delivery charges.”</a:t>
            </a:r>
            <a:br/>
            <a:r>
              <a:t>“I want to know where my order is.”</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THINKS</a:t>
            </a:r>
            <a:br/>
            <a:r>
              <a:t>“Is the restaurant reliable?”</a:t>
            </a:r>
            <a:br/>
            <a:r>
              <a:t>“Will my food be fresh?”</a:t>
            </a:r>
            <a:br/>
            <a:r>
              <a:t>“Is the estimated delivery time accurate?”</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06</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04  EMPATHY MAP</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DOES</a:t>
            </a:r>
            <a:br/>
            <a:r>
              <a:t>Searches restaurants • compares prices &amp; ratings • checks reviews • places orders • tracks delivery • rates service</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FEELS</a:t>
            </a:r>
            <a:br/>
            <a:r>
              <a:t>Happy when ordering is quick and convenient.</a:t>
            </a:r>
            <a:br/>
            <a:r>
              <a:t>Worried when delivery is delayed or order status is unclear.</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07</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05  PAINS &amp; NEEDS</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PAIN POINTS</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Late delivery • extra charges • wrong/missing items • poor support • inaccurate tracking</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08</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05  PAINS &amp; NEEDS</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USER NEEDS</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Affordable prices • reliable delivery • clear tracking • easy payment • quick customer support</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09</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06  USER NEEDS</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A BETTER EXPERIENCE SHOULD OFFER</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Simple interface</a:t>
            </a:r>
            <a:br/>
            <a:r>
              <a:t>Fast and reliable delivery</a:t>
            </a:r>
            <a:br/>
            <a:r>
              <a:t>Clear live order tracking</a:t>
            </a:r>
            <a:br/>
            <a:r>
              <a:t>Affordable food and delivery charges</a:t>
            </a:r>
            <a:br/>
            <a:r>
              <a:t>Multiple secure payment options</a:t>
            </a:r>
            <a:br/>
            <a:r>
              <a:t>Accurate ratings &amp; reviews</a:t>
            </a:r>
            <a:br/>
            <a:r>
              <a:t>Quick customer support</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10</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07  USER FRUSTRATIONS</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WHAT CREATES FRICTION?</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Delivery exceeds estimated time</a:t>
            </a:r>
            <a:br/>
            <a:r>
              <a:t>Additional fees appear late</a:t>
            </a:r>
            <a:br/>
            <a:r>
              <a:t>Missing/incorrect food items</a:t>
            </a:r>
            <a:br/>
            <a:r>
              <a:t>Tracking does not update properly</a:t>
            </a:r>
            <a:br/>
            <a:r>
              <a:t>Slow customer support</a:t>
            </a:r>
            <a:br/>
            <a:r>
              <a:t>Popular items become unavailable</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11</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08  USER EXPECTATIONS</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THE USER EXPECTS</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A smooth and fast ordering process</a:t>
            </a:r>
            <a:br/>
            <a:r>
              <a:t>Realistic delivery time</a:t>
            </a:r>
            <a:br/>
            <a:r>
              <a:t>Notifications at important order stages</a:t>
            </a:r>
            <a:br/>
            <a:r>
              <a:t>Clear prices and additional charges</a:t>
            </a:r>
            <a:br/>
            <a:r>
              <a:t>Reliable customer support</a:t>
            </a:r>
            <a:br/>
            <a:r>
              <a:t>A convenient, affordable and trustworthy experience</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12</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09  PROPOSED IMPROVEMENTS</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TURN INSIGHTS INTO SOLUTIONS</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01  Accurate live tracking</a:t>
            </a:r>
            <a:br/>
            <a:r>
              <a:t>02  Transparent pricing</a:t>
            </a:r>
            <a:br/>
            <a:r>
              <a:t>03  Personalized recommendations</a:t>
            </a:r>
            <a:br/>
            <a:r>
              <a:t>04  Reliable delivery-time estimates</a:t>
            </a:r>
            <a:br/>
            <a:r>
              <a:t>05  Easy cancellation &amp; refund options</a:t>
            </a:r>
            <a:br/>
            <a:r>
              <a:t>06  Faster in-app customer support</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13</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10  CONCLUSION</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DESIGN FOR THE REAL USER</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The empathy map reveals users’ needs, frustrations, thoughts, actions and expectations. These insights help designers create a more user-friendly and satisfying food delivery experience.</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14</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SHORT PRESENTATION</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“My topic is an empathy map for a food delivery app user.”</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The user wants affordable food, quick delivery, easy payment and accurate tracking. Main frustrations are late delivery, extra charges, wrong orders and slow support. We can improve the app with transparent pricing, accurate tracking, realistic delivery times and faster support.</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F"/>
        </a:solidFill>
        <a:effectLst/>
      </p:bgPr>
    </p:bg>
    <p:spTree>
      <p:nvGrpSpPr>
        <p:cNvPr id="1" name=""/>
        <p:cNvGrpSpPr/>
        <p:nvPr/>
      </p:nvGrpSpPr>
      <p:grpSpPr/>
      <p:sp>
        <p:nvSpPr>
          <p:cNvPr id="2" name="Oval 1"/>
          <p:cNvSpPr/>
          <p:nvPr/>
        </p:nvSpPr>
        <p:spPr>
          <a:xfrm>
            <a:off x="9966960" y="-640080"/>
            <a:ext cx="2926080" cy="2926080"/>
          </a:xfrm>
          <a:prstGeom prst="ellipse">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486400"/>
            <a:ext cx="2103120" cy="2103120"/>
          </a:xfrm>
          <a:prstGeom prst="ellipse">
            <a:avLst/>
          </a:prstGeom>
          <a:solidFill>
            <a:srgbClr val="EE5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6F4E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881360" y="6263640"/>
            <a:ext cx="640080" cy="274320"/>
          </a:xfrm>
          <a:prstGeom prst="rect">
            <a:avLst/>
          </a:prstGeom>
          <a:noFill/>
        </p:spPr>
        <p:txBody>
          <a:bodyPr wrap="square">
            <a:spAutoFit/>
          </a:bodyPr>
          <a:lstStyle/>
          <a:p>
            <a:pPr algn="r">
              <a:defRPr sz="1000" b="1">
                <a:solidFill>
                  <a:srgbClr val="5C5E73"/>
                </a:solidFill>
                <a:latin typeface="Aptos"/>
              </a:defRPr>
            </a:pPr>
            <a:r>
              <a:t>15</a:t>
            </a:r>
          </a:p>
        </p:txBody>
      </p:sp>
      <p:sp>
        <p:nvSpPr>
          <p:cNvPr id="6" name="TextBox 5"/>
          <p:cNvSpPr txBox="1"/>
          <p:nvPr/>
        </p:nvSpPr>
        <p:spPr>
          <a:xfrm>
            <a:off x="777240" y="658368"/>
            <a:ext cx="7772400" cy="411480"/>
          </a:xfrm>
          <a:prstGeom prst="rect">
            <a:avLst/>
          </a:prstGeom>
          <a:noFill/>
        </p:spPr>
        <p:txBody>
          <a:bodyPr wrap="square">
            <a:spAutoFit/>
          </a:bodyPr>
          <a:lstStyle/>
          <a:p>
            <a:pPr algn="l">
              <a:defRPr sz="1500" b="1">
                <a:solidFill>
                  <a:srgbClr val="6F4EF6"/>
                </a:solidFill>
                <a:latin typeface="Aptos"/>
              </a:defRPr>
            </a:pPr>
            <a:r>
              <a:t>THANK YOU</a:t>
            </a:r>
          </a:p>
        </p:txBody>
      </p:sp>
      <p:sp>
        <p:nvSpPr>
          <p:cNvPr id="7" name="TextBox 6"/>
          <p:cNvSpPr txBox="1"/>
          <p:nvPr/>
        </p:nvSpPr>
        <p:spPr>
          <a:xfrm>
            <a:off x="777240" y="1325880"/>
            <a:ext cx="10241280" cy="914400"/>
          </a:xfrm>
          <a:prstGeom prst="rect">
            <a:avLst/>
          </a:prstGeom>
          <a:noFill/>
        </p:spPr>
        <p:txBody>
          <a:bodyPr wrap="square">
            <a:spAutoFit/>
          </a:bodyPr>
          <a:lstStyle/>
          <a:p>
            <a:pPr algn="l">
              <a:defRPr sz="2700" b="1">
                <a:solidFill>
                  <a:srgbClr val="161C37"/>
                </a:solidFill>
                <a:latin typeface="Aptos"/>
              </a:defRPr>
            </a:pPr>
            <a:r>
              <a:t>DESIGN WITH EMPATHY • CREATE WITH PURPOSE</a:t>
            </a:r>
          </a:p>
        </p:txBody>
      </p:sp>
      <p:sp>
        <p:nvSpPr>
          <p:cNvPr id="8" name="Rounded Rectangle 7"/>
          <p:cNvSpPr/>
          <p:nvPr/>
        </p:nvSpPr>
        <p:spPr>
          <a:xfrm>
            <a:off x="777240" y="2514600"/>
            <a:ext cx="10607040" cy="2926080"/>
          </a:xfrm>
          <a:prstGeom prst="roundRect">
            <a:avLst/>
          </a:prstGeom>
          <a:solidFill>
            <a:srgbClr val="FFFFFF"/>
          </a:solidFill>
          <a:ln w="12700">
            <a:solidFill>
              <a:srgbClr val="E7E4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9875520" cy="2240280"/>
          </a:xfrm>
          <a:prstGeom prst="rect">
            <a:avLst/>
          </a:prstGeom>
          <a:noFill/>
        </p:spPr>
        <p:txBody>
          <a:bodyPr wrap="square">
            <a:spAutoFit/>
          </a:bodyPr>
          <a:lstStyle/>
          <a:p>
            <a:pPr algn="l">
              <a:defRPr sz="1800" b="0">
                <a:solidFill>
                  <a:srgbClr val="5C5E73"/>
                </a:solidFill>
                <a:latin typeface="Aptos"/>
              </a:defRPr>
            </a:pPr>
            <a:r>
              <a:t>Dhakshanya  |  BCA – 1st Year</a:t>
            </a:r>
          </a:p>
        </p:txBody>
      </p:sp>
      <p:sp>
        <p:nvSpPr>
          <p:cNvPr id="10" name="TextBox 9"/>
          <p:cNvSpPr txBox="1"/>
          <p:nvPr/>
        </p:nvSpPr>
        <p:spPr>
          <a:xfrm>
            <a:off x="777240" y="6199632"/>
            <a:ext cx="4572000" cy="228600"/>
          </a:xfrm>
          <a:prstGeom prst="rect">
            <a:avLst/>
          </a:prstGeom>
          <a:noFill/>
        </p:spPr>
        <p:txBody>
          <a:bodyPr wrap="square">
            <a:spAutoFit/>
          </a:bodyPr>
          <a:lstStyle/>
          <a:p>
            <a:pPr algn="l">
              <a:defRPr sz="900" b="1">
                <a:solidFill>
                  <a:srgbClr val="5C5E73"/>
                </a:solidFill>
                <a:latin typeface="Aptos"/>
              </a:defRPr>
            </a:pPr>
            <a:r>
              <a:t>UI/UX DESIGN THINKING • EMPATHY 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